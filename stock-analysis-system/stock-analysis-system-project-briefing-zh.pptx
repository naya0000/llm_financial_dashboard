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PingFang TC"/>
              </a:rPr>
              <a:t>個人理財助理專案報告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>
                <a:latin typeface="PingFang TC"/>
              </a:rPr>
              <a:t>AI 多代理人個股分析系統</a:t>
            </a:r>
          </a:p>
          <a:p>
            <a:r>
              <a:rPr sz="2200" b="0">
                <a:latin typeface="PingFang TC"/>
              </a:rPr>
              <a:t>專案分析與創新提案（10 分鐘）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目錄與報告節奏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1. 系統架構設計（2 分鐘）</a:t>
            </a:r>
          </a:p>
          <a:p>
            <a:pPr algn="l"/>
            <a:r>
              <a:rPr sz="2000" b="0">
                <a:latin typeface="PingFang TC"/>
              </a:rPr>
              <a:t>2. Prompt 設計：摘要精準與避免幻覺（2.5 分鐘）</a:t>
            </a:r>
          </a:p>
          <a:p>
            <a:pPr algn="l"/>
            <a:r>
              <a:rPr sz="2000" b="0">
                <a:latin typeface="PingFang TC"/>
              </a:rPr>
              <a:t>3. 資料品質控制：過濾不可靠/過時資訊（2 分鐘）</a:t>
            </a:r>
          </a:p>
          <a:p>
            <a:pPr algn="l"/>
            <a:r>
              <a:rPr sz="2000" b="0">
                <a:latin typeface="PingFang TC"/>
              </a:rPr>
              <a:t>4. 用戶體驗設計：回應簡潔、易懂（1.5 分鐘）</a:t>
            </a:r>
          </a:p>
          <a:p>
            <a:pPr algn="l"/>
            <a:r>
              <a:rPr sz="2000" b="0">
                <a:latin typeface="PingFang TC"/>
              </a:rPr>
              <a:t>5. 創新功能構想與落地路線（2 分鐘）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專案定位與目標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定位：Claude Code Skills 驅動的多代理人投資分析插件</a:t>
            </a:r>
          </a:p>
          <a:p>
            <a:pPr algn="l"/>
            <a:r>
              <a:rPr sz="2000" b="0">
                <a:latin typeface="PingFang TC"/>
              </a:rPr>
              <a:t>核心價值：將資料抓取、驗證、分析、整合、視覺化串成一條可靠流水線</a:t>
            </a:r>
          </a:p>
          <a:p>
            <a:pPr algn="l"/>
            <a:r>
              <a:rPr sz="2000" b="0">
                <a:latin typeface="PingFang TC"/>
              </a:rPr>
              <a:t>支援市場：台股、美股、日股、港股</a:t>
            </a:r>
          </a:p>
          <a:p>
            <a:pPr algn="l"/>
            <a:r>
              <a:rPr sz="2000" b="0">
                <a:latin typeface="PingFang TC"/>
              </a:rPr>
              <a:t>輸出型態：快速問答 + 結構化分析 + 互動式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系統架構總覽（端到端）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使用者輸入自然語言問題（例如：分析台積電）</a:t>
            </a:r>
          </a:p>
          <a:p>
            <a:pPr algn="l"/>
            <a:r>
              <a:rPr sz="2000" b="0">
                <a:latin typeface="PingFang TC"/>
              </a:rPr>
              <a:t>Orchestrator 解析意圖與模式（quick / selective / full）</a:t>
            </a:r>
          </a:p>
          <a:p>
            <a:pPr algn="l"/>
            <a:r>
              <a:rPr sz="2000" b="0">
                <a:latin typeface="PingFang TC"/>
              </a:rPr>
              <a:t>Fetcher + Validator 先建立可信資料基底</a:t>
            </a:r>
          </a:p>
          <a:p>
            <a:pPr algn="l"/>
            <a:r>
              <a:rPr sz="2000" b="0">
                <a:latin typeface="PingFang TC"/>
              </a:rPr>
              <a:t>6 位分析師並行輸出專業 JSON（財務、技術、量化、產業、情緒、法人）</a:t>
            </a:r>
          </a:p>
          <a:p>
            <a:pPr algn="l"/>
            <a:r>
              <a:rPr sz="2000" b="0">
                <a:latin typeface="PingFang TC"/>
              </a:rPr>
              <a:t>整合層產生 integrated_report，再由 Dashboard 腳本輸出 HTML 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系統架構設計亮點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混合架構：Python 負責機械穩定性，LLM 負責語義推理</a:t>
            </a:r>
          </a:p>
          <a:p>
            <a:pPr algn="l"/>
            <a:r>
              <a:rPr sz="2000" b="0">
                <a:latin typeface="PingFang TC"/>
              </a:rPr>
              <a:t>並行化：資料抓取 + 多分析師並行，降低整體等待時間</a:t>
            </a:r>
          </a:p>
          <a:p>
            <a:pPr algn="l"/>
            <a:r>
              <a:rPr sz="2000" b="0">
                <a:latin typeface="PingFang TC"/>
              </a:rPr>
              <a:t>快取策略：同日報告與 Agent 級快取，避免重複計算</a:t>
            </a:r>
          </a:p>
          <a:p>
            <a:pPr algn="l"/>
            <a:r>
              <a:rPr sz="2000" b="0">
                <a:latin typeface="PingFang TC"/>
              </a:rPr>
              <a:t>模式化服務：快速問答優先低延遲、完整分析優先深度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Prompt 設計原則（摘要精準）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流程強約束：明確 Step-by-Step，避免任意跳步與遺漏</a:t>
            </a:r>
          </a:p>
          <a:p>
            <a:pPr algn="l"/>
            <a:r>
              <a:rPr sz="2000" b="0">
                <a:latin typeface="PingFang TC"/>
              </a:rPr>
              <a:t>資料切片：每位 Agent 只吃自己需要的欄位，降低上下文噪音</a:t>
            </a:r>
          </a:p>
          <a:p>
            <a:pPr algn="l"/>
            <a:r>
              <a:rPr sz="2000" b="0">
                <a:latin typeface="PingFang TC"/>
              </a:rPr>
              <a:t>數值引用規範：引用指標必須給出精確值，不可籠統描述</a:t>
            </a:r>
          </a:p>
          <a:p>
            <a:pPr algn="l"/>
            <a:r>
              <a:rPr sz="2000" b="0">
                <a:latin typeface="PingFang TC"/>
              </a:rPr>
              <a:t>輸出格式固定：JSON schema + 指定欄位，降低摘要漂移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Prompt 設計原則（避免幻覺）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全域零幻覺政策：禁止用訓練資料補缺口</a:t>
            </a:r>
          </a:p>
          <a:p>
            <a:pPr algn="l"/>
            <a:r>
              <a:rPr sz="2000" b="0">
                <a:latin typeface="PingFang TC"/>
              </a:rPr>
              <a:t>缺資料必揭露：data_limitations + 摘要末段「⚠ 資料限制」</a:t>
            </a:r>
          </a:p>
          <a:p>
            <a:pPr algn="l"/>
            <a:r>
              <a:rPr sz="2000" b="0">
                <a:latin typeface="PingFang TC"/>
              </a:rPr>
              <a:t>信心度聯動：資料越缺，confidence 必須越低</a:t>
            </a:r>
          </a:p>
          <a:p>
            <a:pPr algn="l"/>
            <a:r>
              <a:rPr sz="2000" b="0">
                <a:latin typeface="PingFang TC"/>
              </a:rPr>
              <a:t>寧可留白不可捏造：無法驗證即明確說明無法評估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摘要精準機制：從 Agent 到整合層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Score-then-Justify：先初評再論證，避免事後硬湊敘事</a:t>
            </a:r>
          </a:p>
          <a:p>
            <a:pPr algn="l"/>
            <a:r>
              <a:rPr sz="2000" b="0">
                <a:latin typeface="PingFang TC"/>
              </a:rPr>
              <a:t>分數漂移審計：preliminary_score 與 final score 偏差過大需解釋</a:t>
            </a:r>
          </a:p>
          <a:p>
            <a:pPr algn="l"/>
            <a:r>
              <a:rPr sz="2000" b="0">
                <a:latin typeface="PingFang TC"/>
              </a:rPr>
              <a:t>限制整併規則：整合時必須保留所有關鍵限制，不可美化</a:t>
            </a:r>
          </a:p>
          <a:p>
            <a:pPr algn="l"/>
            <a:r>
              <a:rPr sz="2000" b="0">
                <a:latin typeface="PingFang TC"/>
              </a:rPr>
              <a:t>敘事分工：LLM 只做必要推理，機械欄位交給 Python 組裝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資料品質控制框架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三層品質閘門：hard_stop / warning / passed</a:t>
            </a:r>
          </a:p>
          <a:p>
            <a:pPr algn="l"/>
            <a:r>
              <a:rPr sz="2000" b="0">
                <a:latin typeface="PingFang TC"/>
              </a:rPr>
              <a:t>新鮮度檢查：價格 3 天內、財報 120 天內、新聞 30 天內</a:t>
            </a:r>
          </a:p>
          <a:p>
            <a:pPr algn="l"/>
            <a:r>
              <a:rPr sz="2000" b="0">
                <a:latin typeface="PingFang TC"/>
              </a:rPr>
              <a:t>異常偵測：PE/PB 極值、單日劇烈波動、量能異常</a:t>
            </a:r>
          </a:p>
          <a:p>
            <a:pPr algn="l"/>
            <a:r>
              <a:rPr sz="2000" b="0">
                <a:latin typeface="PingFang TC"/>
              </a:rPr>
              <a:t>市場化閾值：台股漲跌幅採 11% 邏輯，降低誤報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資料品質控制：決策行為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hard_stop（&lt;30）：直接中止分析，避免錯誤結論輸出</a:t>
            </a:r>
          </a:p>
          <a:p>
            <a:pPr algn="l"/>
            <a:r>
              <a:rPr sz="2000" b="0">
                <a:latin typeface="PingFang TC"/>
              </a:rPr>
              <a:t>warning（30-49）：允許繼續，但明確警示並降低信心</a:t>
            </a:r>
          </a:p>
          <a:p>
            <a:pPr algn="l"/>
            <a:r>
              <a:rPr sz="2000" b="0">
                <a:latin typeface="PingFang TC"/>
              </a:rPr>
              <a:t>passed（&gt;=50）：進入完整分析流程</a:t>
            </a:r>
          </a:p>
          <a:p>
            <a:pPr algn="l"/>
            <a:r>
              <a:rPr sz="2000" b="0">
                <a:latin typeface="PingFang TC"/>
              </a:rPr>
              <a:t>目標：把不可靠資料擋在分析前，而不是事後補救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用戶體驗設計：回應簡潔、易懂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三種模式自動切換：快問快答 / 選擇性分析 / 完整分析</a:t>
            </a:r>
          </a:p>
          <a:p>
            <a:pPr algn="l"/>
            <a:r>
              <a:rPr sz="2000" b="0">
                <a:latin typeface="PingFang TC"/>
              </a:rPr>
              <a:t>快速問答只回必要資訊（1-2 句），避免資訊過載</a:t>
            </a:r>
          </a:p>
          <a:p>
            <a:pPr algn="l"/>
            <a:r>
              <a:rPr sz="2000" b="0">
                <a:latin typeface="PingFang TC"/>
              </a:rPr>
              <a:t>趨勢問題提供固定結構：走勢圖 + 摘要表 + 趨勢解讀</a:t>
            </a:r>
          </a:p>
          <a:p>
            <a:pPr algn="l"/>
            <a:r>
              <a:rPr sz="2000" b="0">
                <a:latin typeface="PingFang TC"/>
              </a:rPr>
              <a:t>繁體中文專業語言，兼顧可讀性與決策可用性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用戶體驗設計：報告可理解性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Dashboard 統一視覺語言：評分、雷達圖、分析師觀點分區呈現</a:t>
            </a:r>
          </a:p>
          <a:p>
            <a:pPr algn="l"/>
            <a:r>
              <a:rPr sz="2000" b="0">
                <a:latin typeface="PingFang TC"/>
              </a:rPr>
              <a:t>重點先行：先給結論與信心，再展開依據</a:t>
            </a:r>
          </a:p>
          <a:p>
            <a:pPr algn="l"/>
            <a:r>
              <a:rPr sz="2000" b="0">
                <a:latin typeface="PingFang TC"/>
              </a:rPr>
              <a:t>可追溯性：新聞來源、資料限制、風險因子可回查</a:t>
            </a:r>
          </a:p>
          <a:p>
            <a:pPr algn="l"/>
            <a:r>
              <a:rPr sz="2000" b="0">
                <a:latin typeface="PingFang TC"/>
              </a:rPr>
              <a:t>降低認知負擔：技術細節由系統吸收，使用者看到決策重點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創新構想 1：自動驗證回圈（Auto-Refine）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當摘要與資料限制衝突時，自動退回整合層重新生成</a:t>
            </a:r>
          </a:p>
          <a:p>
            <a:pPr algn="l"/>
            <a:r>
              <a:rPr sz="2000" b="0">
                <a:latin typeface="PingFang TC"/>
              </a:rPr>
              <a:t>新增『矛盾偵測器』：檢查高信心但高缺失的異常組合</a:t>
            </a:r>
          </a:p>
          <a:p>
            <a:pPr algn="l"/>
            <a:r>
              <a:rPr sz="2000" b="0">
                <a:latin typeface="PingFang TC"/>
              </a:rPr>
              <a:t>對外輸出前加一道一致性簽核，進一步降低幻覺風險</a:t>
            </a:r>
          </a:p>
          <a:p>
            <a:pPr algn="l"/>
            <a:r>
              <a:rPr sz="2000" b="0">
                <a:latin typeface="PingFang TC"/>
              </a:rPr>
              <a:t>預期效益：提升報告可信度與可審計性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創新構想 2：使用者個人化策略助理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加入風險偏好檔案（保守/平衡/積極）</a:t>
            </a:r>
          </a:p>
          <a:p>
            <a:pPr algn="l"/>
            <a:r>
              <a:rPr sz="2000" b="0">
                <a:latin typeface="PingFang TC"/>
              </a:rPr>
              <a:t>同一份分析可輸出三種建議版本（防守、中性、進攻）</a:t>
            </a:r>
          </a:p>
          <a:p>
            <a:pPr algn="l"/>
            <a:r>
              <a:rPr sz="2000" b="0">
                <a:latin typeface="PingFang TC"/>
              </a:rPr>
              <a:t>新增『我該看哪三件事』摘要卡，提高行動可執行性</a:t>
            </a:r>
          </a:p>
          <a:p>
            <a:pPr algn="l"/>
            <a:r>
              <a:rPr sz="2000" b="0">
                <a:latin typeface="PingFang TC"/>
              </a:rPr>
              <a:t>預期效益：從資訊工具升級為決策輔助工具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創新構想 3：投組與事件驅動監控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多檔股票組合觀察：相關性、集中度、共通風險</a:t>
            </a:r>
          </a:p>
          <a:p>
            <a:pPr algn="l"/>
            <a:r>
              <a:rPr sz="2000" b="0">
                <a:latin typeface="PingFang TC"/>
              </a:rPr>
              <a:t>重大事件觸發再分析（財報、法說、監管）</a:t>
            </a:r>
          </a:p>
          <a:p>
            <a:pPr algn="l"/>
            <a:r>
              <a:rPr sz="2000" b="0">
                <a:latin typeface="PingFang TC"/>
              </a:rPr>
              <a:t>用戶只看『變化』而非重複全文，提升效率</a:t>
            </a:r>
          </a:p>
          <a:p>
            <a:pPr algn="l"/>
            <a:r>
              <a:rPr sz="2000" b="0">
                <a:latin typeface="PingFang TC"/>
              </a:rPr>
              <a:t>預期效益：從單次分析走向持續追蹤服務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落地時程與量化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Phase 1（2 週）：矛盾偵測 + 重新整合回圈</a:t>
            </a:r>
          </a:p>
          <a:p>
            <a:pPr algn="l"/>
            <a:r>
              <a:rPr sz="2000" b="0">
                <a:latin typeface="PingFang TC"/>
              </a:rPr>
              <a:t>Phase 2（3 週）：個人化建議模板與偏好設定</a:t>
            </a:r>
          </a:p>
          <a:p>
            <a:pPr algn="l"/>
            <a:r>
              <a:rPr sz="2000" b="0">
                <a:latin typeface="PingFang TC"/>
              </a:rPr>
              <a:t>Phase 3（4 週）：投組監控與事件觸發</a:t>
            </a:r>
          </a:p>
          <a:p>
            <a:pPr algn="l"/>
            <a:r>
              <a:rPr sz="2000" b="0">
                <a:latin typeface="PingFang TC"/>
              </a:rPr>
              <a:t>KPI：摘要正確率、幻覺事件數、平均回應時間、用戶採納率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本系統的核心競爭力是『可信任的多代理人分析流程』</a:t>
            </a:r>
          </a:p>
          <a:p>
            <a:pPr algn="l"/>
            <a:r>
              <a:rPr sz="2000" b="0">
                <a:latin typeface="PingFang TC"/>
              </a:rPr>
              <a:t>Prompt 設計不是只寫提示詞，而是把品質與誠實性變成硬規則</a:t>
            </a:r>
          </a:p>
          <a:p>
            <a:pPr algn="l"/>
            <a:r>
              <a:rPr sz="2000" b="0">
                <a:latin typeface="PingFang TC"/>
              </a:rPr>
              <a:t>資料品質閘門 + 信心降級 + 限制揭露，形成防幻覺閉環</a:t>
            </a:r>
          </a:p>
          <a:p>
            <a:pPr algn="l"/>
            <a:r>
              <a:rPr sz="2000" b="0">
                <a:latin typeface="PingFang TC"/>
              </a:rPr>
              <a:t>下一步可透過個人化與持續監控，擴展成長期投資決策平台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PingFang TC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PingFang TC"/>
              </a:rPr>
              <a:t>謝謝聆聽</a:t>
            </a:r>
          </a:p>
          <a:p>
            <a:pPr algn="l"/>
            <a:r>
              <a:rPr sz="2000" b="0">
                <a:latin typeface="PingFang TC"/>
              </a:rPr>
              <a:t>如需，我可以再提供：</a:t>
            </a:r>
          </a:p>
          <a:p>
            <a:pPr algn="l"/>
            <a:r>
              <a:rPr sz="2000" b="0">
                <a:latin typeface="PingFang TC"/>
              </a:rPr>
              <a:t>- 主管版（8 分鐘）精簡稿</a:t>
            </a:r>
          </a:p>
          <a:p>
            <a:pPr algn="l"/>
            <a:r>
              <a:rPr sz="2000" b="0">
                <a:latin typeface="PingFang TC"/>
              </a:rPr>
              <a:t>- 技術評審版（15 分鐘）深度稿</a:t>
            </a:r>
          </a:p>
          <a:p>
            <a:pPr algn="l"/>
            <a:r>
              <a:rPr sz="2000" b="0">
                <a:latin typeface="PingFang TC"/>
              </a:rPr>
              <a:t>- 可直接演講的逐字講稿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